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6696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69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9E0B"/>
                </a:solidFill>
                <a:latin typeface="Arial"/>
              </a:defRPr>
            </a:pPr>
            <a:r>
              <a:t>CAR RENTAL MANAGEMENT SYSTEM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  <a:latin typeface="Calibri"/>
              </a:defRPr>
            </a:pPr>
            <a:r>
              <a:t>Core Java Object-Oriented Programming &amp; Relational SQLite Database</a:t>
            </a:r>
          </a:p>
          <a:p>
            <a:br/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Key Focus Areas: Abstraction | Encapsulation | Inheritance | Polymorphism | JDBC &amp; SQLite</a:t>
            </a:r>
            <a:br/>
            <a:r>
              <a:t>Technology Stack: Java 21+ • SQLite 3 JDBC • Transaction Safety • CLI Console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JAVA OOP &amp; SQL DATABASE PROJECT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Project Overview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The Problem Statement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In-memory programs lose all data when the application terminates.</a:t>
            </a:r>
            <a:br/>
            <a:r>
              <a:t>• Manual record keeping leads to calculation mistakes and double-booking.</a:t>
            </a:r>
            <a:br/>
            <a:r>
              <a:t>• Hardcoded pricing lacks flexibility across vehicle categories.</a:t>
            </a:r>
            <a:br/>
            <a:r>
              <a:t>• Need for persistent, relational data management in Java.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0116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Our Solution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Strict Object-Oriented design with robust domain modeling.</a:t>
            </a:r>
            <a:br/>
            <a:r>
              <a:t>• Dynamic polymorphic rent calculation (Sedan, SUV, LuxuryCar).</a:t>
            </a:r>
            <a:br/>
            <a:r>
              <a:t>• Persistent SQLite database storing cars, customers, and active leases.</a:t>
            </a:r>
            <a:br/>
            <a:r>
              <a:t>• Direct SQL Console for live evaluation and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0116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Core Functionalities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Fleet Inventory: Inspect and dynamically add vehicles.</a:t>
            </a:r>
            <a:br/>
            <a:r>
              <a:t>• Rental Desk: Register customers and calculate rental rates.</a:t>
            </a:r>
            <a:br/>
            <a:r>
              <a:t>• Vehicle Return: Process check-ins with automatic availability updates.</a:t>
            </a:r>
            <a:br/>
            <a:r>
              <a:t>• SQL Query Runner: Execute queries directly via JDBC in the terminal.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JAVA OOP &amp; SQL DATABASE PROJECT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System Architecture: 3-Tier Layered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1. Presentation Layer (Interactive Terminal Interface)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Provides a clean, intuitive text console interface:</a:t>
            </a:r>
            <a:br/>
            <a:r>
              <a:t>• Interactive menu for renting, returning, adding cars, and viewing history.</a:t>
            </a:r>
            <a:br/>
            <a:r>
              <a:t>• Live SQL query console enabling the evaluator to test raw queries on SQLite.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10698480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2. Business Logic Layer (Java OOP Domain Models)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Enforces core domain rules, pricing calculations, and constraints:</a:t>
            </a:r>
            <a:br/>
            <a:r>
              <a:t>• Domain Models: Car (abstract), Sedan, SUV, LuxuryCar, Customer, Rental.</a:t>
            </a:r>
            <a:br/>
            <a:r>
              <a:t>• Custom Exception: CarRentalException thrown on business rule violations.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698480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46320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3. Persistence Layer (SQLite Database via JDBC)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Ensures ACID relational persistence across application restarts:</a:t>
            </a:r>
            <a:br/>
            <a:r>
              <a:t>• Database.java: Centralized JDBC connection with Foreign Keys enforced.</a:t>
            </a:r>
            <a:br/>
            <a:r>
              <a:t>• Transaction Safety: Commit/Rollback protection for rental and return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CORE OOP CONCEPTS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OOP Pillar 1: Abstraction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Concept &amp; Practical Purpose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Definition: Hiding complex internal calculations while presenting only essential features to the outside world.</a:t>
            </a:r>
            <a:br/>
            <a:br/>
            <a:r>
              <a:t>• Abstract Class: 'public abstract class Car' acts as a base blueprint. A Car cannot be instantiated on its own because rental calculation depends on the car's specific category.</a:t>
            </a:r>
            <a:br/>
            <a:br/>
            <a:r>
              <a:t>• Abstract Method:</a:t>
            </a:r>
            <a:br/>
            <a:r>
              <a:t>'public abstract Double calculateRent(Integer days);'</a:t>
            </a:r>
            <a:br/>
            <a:r>
              <a:t>Forces every concrete subclass (Sedan, SUV, LuxuryCar) to supply its own rental calculation logic.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Code Evidence: Car.java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Courier New"/>
              </a:defRPr>
            </a:pPr>
            <a:r>
              <a:t>public abstract class Car {</a:t>
            </a:r>
            <a:br/>
            <a:r>
              <a:t>    private Integer carId;</a:t>
            </a:r>
            <a:br/>
            <a:r>
              <a:t>    private String brand;</a:t>
            </a:r>
            <a:br/>
            <a:r>
              <a:t>    private String model;</a:t>
            </a:r>
            <a:br/>
            <a:r>
              <a:t>    private Double pricePerDay;</a:t>
            </a:r>
            <a:br/>
            <a:r>
              <a:t>    private Boolean available;</a:t>
            </a:r>
            <a:br/>
            <a:br/>
            <a:r>
              <a:t>    // Abstract method defining the contract</a:t>
            </a:r>
            <a:br/>
            <a:r>
              <a:t>    public abstract Double calculateRent(Integer days);</a:t>
            </a:r>
            <a:br/>
            <a:br/>
            <a:r>
              <a:t>    public abstract String getCategory();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CORE OOP CONCEPTS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OOP Pillar 2: Encapsulation &amp; Data Hiding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Concept &amp; Practical Purpose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Definition: Bundling data and methods into a single unit while restricting direct access to object attributes.</a:t>
            </a:r>
            <a:br/>
            <a:br/>
            <a:r>
              <a:t>• Private Fields: All fields in Car, Customer, and Rental are declared 'private'.</a:t>
            </a:r>
            <a:br/>
            <a:br/>
            <a:r>
              <a:t>• Controlled Access: Access is mediated through public getter and setter methods.</a:t>
            </a:r>
            <a:br/>
            <a:br/>
            <a:r>
              <a:t>• Integrity Protection: Direct tampering with critical values (e.g. price, totalAmount, availability) is prohibited, maintaining valid business state.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Code Evidence: Customer.java &amp; Car.java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  <a:latin typeface="Courier New"/>
              </a:defRPr>
            </a:pPr>
            <a:r>
              <a:t>public class Customer {</a:t>
            </a:r>
            <a:br/>
            <a:r>
              <a:t>    // Private fields: protected against direct access</a:t>
            </a:r>
            <a:br/>
            <a:r>
              <a:t>    private Integer customerId;</a:t>
            </a:r>
            <a:br/>
            <a:r>
              <a:t>    private String name;</a:t>
            </a:r>
            <a:br/>
            <a:r>
              <a:t>    private String phone;</a:t>
            </a:r>
            <a:br/>
            <a:r>
              <a:t>    private String drivingLicense;</a:t>
            </a:r>
            <a:br/>
            <a:br/>
            <a:r>
              <a:t>    // Controlled read access</a:t>
            </a:r>
            <a:br/>
            <a:r>
              <a:t>    public Integer getCustomerId() { return customerId; }</a:t>
            </a:r>
            <a:br/>
            <a:r>
              <a:t>    public String getName() { return name; }</a:t>
            </a:r>
            <a:br/>
            <a:r>
              <a:t>    public String getDrivingLicense() { return drivingLicense;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CORE OOP CONCEPTS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OOP Pillar 3: Inheritance &amp; Code Reusability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Concept &amp; Practical Purpose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Definition: Mechanism where a child class acquires all properties and behaviors of a parent class.</a:t>
            </a:r>
            <a:br/>
            <a:br/>
            <a:r>
              <a:t>• Code Reusability: Sedan, SUV, and LuxuryCar extend Car, inheriting brand, model, pricePerDay, and availability.</a:t>
            </a:r>
            <a:br/>
            <a:br/>
            <a:r>
              <a:t>• 'super' Keyword: Child constructors invoke the parent constructor via 'super(carId, brand, model, pricePerDay)' to reuse initialization logic without duplicating code.</a:t>
            </a:r>
            <a:br/>
            <a:br/>
            <a:r>
              <a:t>• Extensibility: Adding a new vehicle class (e.g., ElectricCar) requires zero modifications to existing classes.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Code Evidence: Sedan.java &amp; SUV.java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  <a:latin typeface="Courier New"/>
              </a:defRPr>
            </a:pPr>
            <a:r>
              <a:t>public class SUV extends Car {</a:t>
            </a:r>
            <a:br/>
            <a:r>
              <a:t>    public SUV(int carId, String brand, String model, double price) {</a:t>
            </a:r>
            <a:br/>
            <a:r>
              <a:t>        // Reusing parent constructor</a:t>
            </a:r>
            <a:br/>
            <a:r>
              <a:t>        super(carId, brand, model, price);</a:t>
            </a:r>
            <a:br/>
            <a:r>
              <a:t>    }</a:t>
            </a:r>
            <a:br/>
            <a:br/>
            <a:r>
              <a:t>    @Override</a:t>
            </a:r>
            <a:br/>
            <a:r>
              <a:t>    public Double calculateRent(Integer days) {</a:t>
            </a:r>
            <a:br/>
            <a:r>
              <a:t>        return getPricePerDay() * days * 1.10;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CORE OOP CONCEPTS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OOP Pillar 4: Polymorphism &amp; Dynamic Method Dispatch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Runtime Dynamic Binding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Definition: The ability of a message or method call to be processed in more than one form at runtime.</a:t>
            </a:r>
            <a:br/>
            <a:br/>
            <a:r>
              <a:t>• Overridden Method: Subclasses override calculateRent(days):</a:t>
            </a:r>
            <a:br/>
            <a:r>
              <a:t>  - Sedan: base rate (1.0x)</a:t>
            </a:r>
            <a:br/>
            <a:r>
              <a:t>  - SUV: 10% premium (1.10x)</a:t>
            </a:r>
            <a:br/>
            <a:r>
              <a:t>  - LuxuryCar: 20% premium (1.20x)</a:t>
            </a:r>
            <a:br/>
            <a:br/>
            <a:r>
              <a:t>• Dynamic Binding: In Rental.java constructor, 'this.totalAmount = car.calculateRent(days)' is called on a reference of type Car. The JVM determines at runtime which subclass method to execute based on the concrete object.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Code Evidence: Rental.java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Courier New"/>
              </a:defRPr>
            </a:pPr>
            <a:r>
              <a:t>public class Rental {</a:t>
            </a:r>
            <a:br/>
            <a:r>
              <a:t>    private Car car; // Superclass reference</a:t>
            </a:r>
            <a:br/>
            <a:r>
              <a:t>    private Double totalAmount;</a:t>
            </a:r>
            <a:br/>
            <a:br/>
            <a:r>
              <a:t>    public Rental(int id, Customer cust, Car car, int days) {</a:t>
            </a:r>
            <a:br/>
            <a:r>
              <a:t>        this.car = car;</a:t>
            </a:r>
            <a:br/>
            <a:r>
              <a:t>        // Polymorphic invocation at runtime</a:t>
            </a:r>
            <a:br/>
            <a:r>
              <a:t>        this.totalAmount = car.calculateRent(days);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SYSTEM RELIABILITY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Robust Exception Handling: CarRentalException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Custom Checked Exception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Class Definition: 'public class CarRentalException extends Exception' defines a checked exception.</a:t>
            </a:r>
            <a:br/>
            <a:br/>
            <a:r>
              <a:t>• Validation Scenarios:</a:t>
            </a:r>
            <a:br/>
            <a:r>
              <a:t>  - Invalid or non-existent Car ID</a:t>
            </a:r>
            <a:br/>
            <a:r>
              <a:t>  - Attempting to rent an already rented car</a:t>
            </a:r>
            <a:br/>
            <a:r>
              <a:t>  - Non-positive rental duration (&lt;= 0 days)</a:t>
            </a:r>
            <a:br/>
            <a:r>
              <a:t>  - Returning an already completed rental</a:t>
            </a:r>
            <a:br/>
            <a:r>
              <a:t>  - Database transaction failures</a:t>
            </a:r>
            <a:br/>
            <a:br/>
            <a:r>
              <a:t>• Graceful Recovery: Thrown exceptions are caught in try-catch blocks to display clear error messages without application crashes.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Code Evidence: CarRentalException.java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Courier New"/>
              </a:defRPr>
            </a:pPr>
            <a:r>
              <a:t>public class CarRentalException extends Exception {</a:t>
            </a:r>
            <a:br/>
            <a:r>
              <a:t>    public CarRentalException(String message) {</a:t>
            </a:r>
            <a:br/>
            <a:r>
              <a:t>        super(message);</a:t>
            </a:r>
            <a:br/>
            <a:r>
              <a:t>    }</a:t>
            </a:r>
            <a:br/>
            <a:r>
              <a:t>}</a:t>
            </a:r>
            <a:br/>
            <a:br/>
            <a:r>
              <a:t>// Usage in Business Logic:</a:t>
            </a:r>
            <a:br/>
            <a:r>
              <a:t>if (days &lt;= 0) {</a:t>
            </a:r>
            <a:br/>
            <a:r>
              <a:t>    throw new CarRentalException("Rental duration must be at least 1 day.");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DATABASE MANAGEMENT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Relational Database Schema: SQLite Database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Table: cars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car_id (INT, PK)</a:t>
            </a:r>
            <a:br/>
            <a:r>
              <a:t>• brand (TEXT NOT NULL)</a:t>
            </a:r>
            <a:br/>
            <a:r>
              <a:t>• model (TEXT NOT NULL)</a:t>
            </a:r>
            <a:br/>
            <a:r>
              <a:t>• category (TEXT CHECK IN ('Sedan', 'SUV', 'LuxuryCar'))</a:t>
            </a:r>
            <a:br/>
            <a:r>
              <a:t>• price_per_day (REAL &gt; 0)</a:t>
            </a:r>
            <a:br/>
            <a:r>
              <a:t>• available (INT CHECK IN (0, 1))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0116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Table: customers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customer_id (INT, PK AUTOINCREMENT)</a:t>
            </a:r>
            <a:br/>
            <a:r>
              <a:t>• name (TEXT NOT NULL)</a:t>
            </a:r>
            <a:br/>
            <a:r>
              <a:t>• phone (TEXT NOT NULL)</a:t>
            </a:r>
            <a:br/>
            <a:r>
              <a:t>• driving_license (TEXT UNIQUE NOT NULL)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0116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Table: rentals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rental_id (INT, PK AUTOINCREMENT)</a:t>
            </a:r>
            <a:br/>
            <a:r>
              <a:t>• customer_id (INT, FK -&gt; customers)</a:t>
            </a:r>
            <a:br/>
            <a:r>
              <a:t>• car_id (INT, FK -&gt; cars)</a:t>
            </a:r>
            <a:br/>
            <a:r>
              <a:t>• days (INT &gt; 0)</a:t>
            </a:r>
            <a:br/>
            <a:r>
              <a:t>• total_amount (REAL &gt; 0)</a:t>
            </a:r>
            <a:br/>
            <a:r>
              <a:t>• active (INT CHECK IN (0, 1))</a:t>
            </a:r>
            <a:br/>
            <a:r>
              <a:t>• rental_date (TEXT NOT NULL)</a:t>
            </a:r>
            <a:br/>
            <a:r>
              <a:t>• return_date (TEXT)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DATABASE MANAGEMENT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JDBC Connectivity &amp; Database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JDBC Architecture &amp; Security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Connection: Managed via DriverManager.getConnection("jdbc:sqlite:carrental.db").</a:t>
            </a:r>
            <a:br/>
            <a:br/>
            <a:r>
              <a:t>• Foreign Keys Enforced: PRAGMA foreign_keys = ON;</a:t>
            </a:r>
            <a:br/>
            <a:br/>
            <a:r>
              <a:t>• SQL Injection Prevention: All user queries use PreparedStatement with parameterized '?' placeholders.</a:t>
            </a:r>
            <a:br/>
            <a:br/>
            <a:r>
              <a:t>• Polymorphic Entity Hydration: mapCar(ResultSet rs) reads the category column and instantiates new Sedan(), new SUV(), or new LuxuryCar().</a:t>
            </a:r>
            <a:br/>
            <a:br/>
            <a:r>
              <a:t>• Transaction Safety: conn.setAutoCommit(false), conn.commit(), and conn.rollback() ensure ACID compliance during booking and return.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Code Evidence: Transaction in Database.java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Courier New"/>
              </a:defRPr>
            </a:pPr>
            <a:r>
              <a:t>conn.setAutoCommit(false); // Begin transaction</a:t>
            </a:r>
            <a:br/>
            <a:r>
              <a:t>try {</a:t>
            </a:r>
            <a:br/>
            <a:r>
              <a:t>    // 1. Insert into rentals table</a:t>
            </a:r>
            <a:br/>
            <a:r>
              <a:t>    psRental.executeUpdate();</a:t>
            </a:r>
            <a:br/>
            <a:br/>
            <a:r>
              <a:t>    // 2. Mark car as unavailable in cars table</a:t>
            </a:r>
            <a:br/>
            <a:r>
              <a:t>    psCar.executeUpdate();</a:t>
            </a:r>
            <a:br/>
            <a:br/>
            <a:r>
              <a:t>    conn.commit(); // Success</a:t>
            </a:r>
            <a:br/>
            <a:r>
              <a:t>} catch (SQLException e) {</a:t>
            </a:r>
            <a:br/>
            <a:r>
              <a:t>    conn.rollback(); // Rollback on error</a:t>
            </a:r>
            <a:br/>
            <a:r>
              <a:t>    throw new CarRentalException("Transaction failed");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PREPARATION REFERENCE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Viva &amp; Evaluation Q&amp;A Cheat Sheet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Q1: Why use an Abstract Class instead of an Interface for Car?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Answer: Car holds shared state (carId, brand, model, pricePerDay, available) and concrete getters/setters, while enforcing that child classes implement calculateRent(). Interfaces cannot hold non-static instance state.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10698480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Q2: Where exactly does Dynamic Binding happen?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Answer: In Rental.java constructor on: car.calculateRent(days). The variable is of type Car, but the runtime JVM resolves whether Sedan, SUV, or LuxuryCar executes based on the concrete object passed.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698480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46320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Q3: How did you ensure SQL security &amp; relational integrity?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Answer: 1) Used PreparedStatement placeholders to prevent SQL injection. 2) Foreign keys link rentals to customers and cars. 3) PRAGMA foreign_keys = ON enforces relational constraints.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PROJECT WRAP-UP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t>Summary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183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37360" y="2103120"/>
            <a:ext cx="8686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Key Takeaways &amp; Technical Highlights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✅ 100% Core Java OOP Principles applied cleanly (Abstraction, Encapsulation, Inheritance, Polymorphism).</a:t>
            </a:r>
            <a:br/>
            <a:br/>
            <a:r>
              <a:t>✅ Persistent SQLite Database with verified Relational Foreign Keys (cars, customers, rentals).</a:t>
            </a:r>
            <a:br/>
            <a:br/>
            <a:r>
              <a:t>✅ Robust Database.java architecture with Parameterized PreparedStatement queries preventing SQL Injection.</a:t>
            </a:r>
            <a:br/>
            <a:br/>
            <a:r>
              <a:t>✅ Direct Console SQL Query Tool allowing live query execution during project viva.</a:t>
            </a:r>
            <a:br/>
            <a:br/>
            <a:r>
              <a:t>✅ Robust Exception Handling with custom checked exception CarRentalException.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